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60" r:id="rId5"/>
    <p:sldId id="264" r:id="rId6"/>
    <p:sldId id="259" r:id="rId7"/>
    <p:sldId id="268" r:id="rId8"/>
    <p:sldId id="267" r:id="rId9"/>
    <p:sldId id="269" r:id="rId10"/>
    <p:sldId id="265" r:id="rId11"/>
    <p:sldId id="270" r:id="rId12"/>
    <p:sldId id="271" r:id="rId13"/>
    <p:sldId id="272" r:id="rId14"/>
    <p:sldId id="273" r:id="rId15"/>
    <p:sldId id="266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754" y="-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org&amp;utm_campaign=index&amp;utm_content=thumbnai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 descr="Archivo:Zurich Insurance Group logo.svg - Wikipedia, la ...">
            <a:extLst>
              <a:ext uri="{FF2B5EF4-FFF2-40B4-BE49-F238E27FC236}">
                <a16:creationId xmlns:a16="http://schemas.microsoft.com/office/drawing/2014/main" id="{1C7BA53D-F6AF-54D7-8EA9-3D33A8529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512" y="1821149"/>
            <a:ext cx="3942735" cy="24765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581" y="2969881"/>
            <a:ext cx="10058400" cy="133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FFFFFF"/>
                </a:solidFill>
              </a:defRPr>
            </a:pPr>
            <a:r>
              <a:rPr lang="en-US" noProof="0" dirty="0"/>
              <a:t>Saúl A. Fernández Dávalos</a:t>
            </a:r>
          </a:p>
          <a:p>
            <a:pPr>
              <a:defRPr sz="2000">
                <a:solidFill>
                  <a:srgbClr val="D5CEB5"/>
                </a:solidFill>
              </a:defRPr>
            </a:pPr>
            <a:r>
              <a:rPr lang="en-US" noProof="0" dirty="0"/>
              <a:t>Job Interview Presentation  |  Data Science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A9A53-D08B-CB0A-2939-670D997F9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32D051-B636-6BEB-C07E-BA81DF925326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A6E977-F4D2-91EB-12AB-E31B08B8C1C0}"/>
              </a:ext>
            </a:extLst>
          </p:cNvPr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F2340-1702-E812-3404-2808AEDA7411}"/>
              </a:ext>
            </a:extLst>
          </p:cNvPr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Arial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Professional Profile &amp; Core Competencies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7EF4B90-22B0-89B9-05E4-C6CAF2B56F40}"/>
              </a:ext>
            </a:extLst>
          </p:cNvPr>
          <p:cNvGrpSpPr/>
          <p:nvPr/>
        </p:nvGrpSpPr>
        <p:grpSpPr>
          <a:xfrm>
            <a:off x="914400" y="1783080"/>
            <a:ext cx="2445588" cy="548640"/>
            <a:chOff x="914400" y="1783080"/>
            <a:chExt cx="2445588" cy="54864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293CE12-E656-00E5-73DE-2E84C179D71E}"/>
                </a:ext>
              </a:extLst>
            </p:cNvPr>
            <p:cNvSpPr txBox="1"/>
            <p:nvPr/>
          </p:nvSpPr>
          <p:spPr>
            <a:xfrm>
              <a:off x="914400" y="1783080"/>
              <a:ext cx="73152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 b="1">
                  <a:solidFill>
                    <a:srgbClr val="003399"/>
                  </a:solidFill>
                  <a:latin typeface="Arial"/>
                </a:defRPr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3CF27B-FAD0-BF03-89DA-0B0347219B79}"/>
                </a:ext>
              </a:extLst>
            </p:cNvPr>
            <p:cNvSpPr txBox="1"/>
            <p:nvPr/>
          </p:nvSpPr>
          <p:spPr>
            <a:xfrm>
              <a:off x="1828800" y="1875028"/>
              <a:ext cx="153118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1">
                  <a:solidFill>
                    <a:srgbClr val="1E293B"/>
                  </a:solidFill>
                  <a:latin typeface="Arial"/>
                </a:defRPr>
              </a:pPr>
              <a:r>
                <a:rPr lang="en-US" b="1" noProof="0" dirty="0">
                  <a:solidFill>
                    <a:srgbClr val="1E293B"/>
                  </a:solidFill>
                  <a:latin typeface="Arial"/>
                </a:rPr>
                <a:t>Introduction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44C3CB3-450B-D43A-A435-9B6D9635C7CF}"/>
              </a:ext>
            </a:extLst>
          </p:cNvPr>
          <p:cNvGrpSpPr/>
          <p:nvPr/>
        </p:nvGrpSpPr>
        <p:grpSpPr>
          <a:xfrm>
            <a:off x="914400" y="2599894"/>
            <a:ext cx="3445862" cy="548640"/>
            <a:chOff x="914400" y="2606039"/>
            <a:chExt cx="3445862" cy="54864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9FD2DC-023E-B087-5143-6DF013D99855}"/>
                </a:ext>
              </a:extLst>
            </p:cNvPr>
            <p:cNvSpPr txBox="1"/>
            <p:nvPr/>
          </p:nvSpPr>
          <p:spPr>
            <a:xfrm>
              <a:off x="914400" y="2606039"/>
              <a:ext cx="73152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 b="1">
                  <a:solidFill>
                    <a:srgbClr val="003399"/>
                  </a:solidFill>
                  <a:latin typeface="Arial"/>
                </a:defRPr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25A191A-3C92-AD6C-BCD8-72282CBEABDF}"/>
                </a:ext>
              </a:extLst>
            </p:cNvPr>
            <p:cNvSpPr txBox="1"/>
            <p:nvPr/>
          </p:nvSpPr>
          <p:spPr>
            <a:xfrm>
              <a:off x="1828800" y="2693201"/>
              <a:ext cx="2531462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1">
                  <a:solidFill>
                    <a:srgbClr val="1E293B"/>
                  </a:solidFill>
                  <a:latin typeface="Arial"/>
                </a:defRPr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General assumptions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41AAB4F-69F8-5934-2673-EBC54DA074EE}"/>
              </a:ext>
            </a:extLst>
          </p:cNvPr>
          <p:cNvGrpSpPr/>
          <p:nvPr/>
        </p:nvGrpSpPr>
        <p:grpSpPr>
          <a:xfrm>
            <a:off x="914400" y="3416708"/>
            <a:ext cx="2598794" cy="548640"/>
            <a:chOff x="914400" y="3348374"/>
            <a:chExt cx="2598794" cy="54864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DD39E7-3DFF-CB03-9784-4C9407BB3E05}"/>
                </a:ext>
              </a:extLst>
            </p:cNvPr>
            <p:cNvSpPr txBox="1"/>
            <p:nvPr/>
          </p:nvSpPr>
          <p:spPr>
            <a:xfrm>
              <a:off x="914400" y="3348374"/>
              <a:ext cx="73152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 b="1">
                  <a:solidFill>
                    <a:srgbClr val="003399"/>
                  </a:solidFill>
                  <a:latin typeface="Arial"/>
                </a:defRPr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8B0748C-0F1E-B8B8-C53E-6D0F871DF539}"/>
                </a:ext>
              </a:extLst>
            </p:cNvPr>
            <p:cNvSpPr txBox="1"/>
            <p:nvPr/>
          </p:nvSpPr>
          <p:spPr>
            <a:xfrm>
              <a:off x="1823885" y="3438028"/>
              <a:ext cx="1689309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1">
                  <a:solidFill>
                    <a:srgbClr val="1E293B"/>
                  </a:solidFill>
                  <a:latin typeface="Arial"/>
                </a:defRPr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Data Analysis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96831A0-0549-5519-95B4-EA3EFCF880E8}"/>
              </a:ext>
            </a:extLst>
          </p:cNvPr>
          <p:cNvGrpSpPr/>
          <p:nvPr/>
        </p:nvGrpSpPr>
        <p:grpSpPr>
          <a:xfrm>
            <a:off x="914400" y="4233522"/>
            <a:ext cx="2107249" cy="548640"/>
            <a:chOff x="914400" y="4268673"/>
            <a:chExt cx="2107249" cy="5486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664C2C5-670A-C020-42FB-8AE2CF11A80A}"/>
                </a:ext>
              </a:extLst>
            </p:cNvPr>
            <p:cNvSpPr txBox="1"/>
            <p:nvPr/>
          </p:nvSpPr>
          <p:spPr>
            <a:xfrm>
              <a:off x="914400" y="4268673"/>
              <a:ext cx="73152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 b="1">
                  <a:solidFill>
                    <a:srgbClr val="003399"/>
                  </a:solidFill>
                  <a:latin typeface="Arial"/>
                </a:defRPr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DC271F0-05B7-5ABB-D007-060A9FECCF34}"/>
                </a:ext>
              </a:extLst>
            </p:cNvPr>
            <p:cNvSpPr txBox="1"/>
            <p:nvPr/>
          </p:nvSpPr>
          <p:spPr>
            <a:xfrm>
              <a:off x="1823885" y="4328831"/>
              <a:ext cx="1197764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1">
                  <a:solidFill>
                    <a:srgbClr val="1E293B"/>
                  </a:solidFill>
                  <a:latin typeface="Arial"/>
                </a:defRPr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Modeling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4537330-1DD3-099D-1839-40461D012FB4}"/>
              </a:ext>
            </a:extLst>
          </p:cNvPr>
          <p:cNvGrpSpPr/>
          <p:nvPr/>
        </p:nvGrpSpPr>
        <p:grpSpPr>
          <a:xfrm>
            <a:off x="909485" y="5050337"/>
            <a:ext cx="3356094" cy="461665"/>
            <a:chOff x="909485" y="5050337"/>
            <a:chExt cx="3356094" cy="46166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772C6CF-B6DB-D02C-8B11-665F253019F6}"/>
                </a:ext>
              </a:extLst>
            </p:cNvPr>
            <p:cNvSpPr txBox="1"/>
            <p:nvPr/>
          </p:nvSpPr>
          <p:spPr>
            <a:xfrm>
              <a:off x="909485" y="5050337"/>
              <a:ext cx="527709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 b="1">
                  <a:solidFill>
                    <a:srgbClr val="003399"/>
                  </a:solidFill>
                  <a:latin typeface="Arial"/>
                </a:defRPr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E45BA18-F27F-21EE-6193-451BFD94275C}"/>
                </a:ext>
              </a:extLst>
            </p:cNvPr>
            <p:cNvSpPr txBox="1"/>
            <p:nvPr/>
          </p:nvSpPr>
          <p:spPr>
            <a:xfrm>
              <a:off x="1823885" y="5096503"/>
              <a:ext cx="2441694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1">
                  <a:solidFill>
                    <a:srgbClr val="1E293B"/>
                  </a:solidFill>
                  <a:latin typeface="Arial"/>
                </a:defRPr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Production roadmap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823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003399"/>
                </a:solidFill>
              </a:defRPr>
            </a:pPr>
            <a:r>
              <a:rPr lang="en-US" noProof="0" dirty="0"/>
              <a:t>01</a:t>
            </a:r>
          </a:p>
          <a:p>
            <a:pPr>
              <a:defRPr sz="3600" b="1">
                <a:solidFill>
                  <a:srgbClr val="2167AE"/>
                </a:solidFill>
              </a:defRPr>
            </a:pPr>
            <a:r>
              <a:rPr lang="en-US" noProof="0" dirty="0"/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22813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Arial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383280" cy="4389120"/>
          </a:xfrm>
          <a:prstGeom prst="rect">
            <a:avLst/>
          </a:prstGeom>
          <a:solidFill>
            <a:srgbClr val="F5F6F8"/>
          </a:solidFill>
          <a:ln w="12700">
            <a:solidFill>
              <a:srgbClr val="D5C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383280" cy="5486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45595" y="1645920"/>
            <a:ext cx="9893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</a:defRPr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PURPOSE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3108960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400" b="1">
                <a:solidFill>
                  <a:srgbClr val="2167AE"/>
                </a:solidFill>
              </a:defRPr>
            </a:pPr>
            <a:r>
              <a:rPr lang="en-US" sz="1400" b="1" dirty="0">
                <a:solidFill>
                  <a:srgbClr val="2167AE"/>
                </a:solidFill>
                <a:latin typeface="Calibri"/>
              </a:rPr>
              <a:t>Risk estimation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2167A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rgbClr val="333333"/>
                </a:solidFill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Define relevant risk KPI´s to use for risk underwriting.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rgbClr val="333333"/>
                </a:solidFill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Create a base model for Auto policies underwriting.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rgbClr val="333333"/>
                </a:solidFill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Creation of a deployment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383280" cy="4389120"/>
          </a:xfrm>
          <a:prstGeom prst="rect">
            <a:avLst/>
          </a:prstGeom>
          <a:solidFill>
            <a:srgbClr val="F5F6F8"/>
          </a:solidFill>
          <a:ln w="12700">
            <a:solidFill>
              <a:srgbClr val="D5C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383280" cy="5486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08594" y="1645920"/>
            <a:ext cx="15614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</a:defRPr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METHODOLOGY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34840" y="2286000"/>
            <a:ext cx="310896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400" b="1">
                <a:solidFill>
                  <a:srgbClr val="2167AE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167A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Analysis, Modeling &amp; Deployment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rgbClr val="333333"/>
                </a:solidFill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Interpretability and maintainability took precedence over maximum performance.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rgbClr val="333333"/>
                </a:solidFill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For graphs, clearness of presentation was preferred to aesthetics.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rgbClr val="333333"/>
                </a:solidFill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Preference was given to testing diverse models over parameter tuning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F5F6F8"/>
          </a:solidFill>
          <a:ln w="12700">
            <a:solidFill>
              <a:srgbClr val="D5C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383280" cy="5486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10726" y="1645920"/>
            <a:ext cx="14552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</a:defRPr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ASSUMPTIONS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83880" y="2286000"/>
            <a:ext cx="310896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400" b="1">
                <a:solidFill>
                  <a:srgbClr val="2167AE"/>
                </a:solidFill>
              </a:defRPr>
            </a:pPr>
            <a:r>
              <a:rPr lang="en-US" sz="1400" b="1" dirty="0">
                <a:solidFill>
                  <a:srgbClr val="2167AE"/>
                </a:solidFill>
                <a:latin typeface="Calibri"/>
              </a:rPr>
              <a:t>In general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2167A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rgbClr val="333333"/>
                </a:solidFill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We will suppose that the propensity of a given policy to generate claims is independent from the average severity of its claims.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solidFill>
                  <a:srgbClr val="333333"/>
                </a:solidFill>
              </a:defRPr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Policies will be treated as independent observations and the only time dependance for each one is given by the “prior_” fields.*</a:t>
            </a:r>
          </a:p>
          <a:p>
            <a:pPr lvl="0">
              <a:spcBef>
                <a:spcPts val="600"/>
              </a:spcBef>
              <a:defRPr sz="1100">
                <a:solidFill>
                  <a:srgbClr val="333333"/>
                </a:solidFill>
              </a:defRPr>
            </a:pPr>
            <a:r>
              <a:rPr lang="en-US" sz="1100" dirty="0">
                <a:solidFill>
                  <a:srgbClr val="333333"/>
                </a:solidFill>
              </a:rPr>
              <a:t>• Missing values will be treated as true missing in the models which don´t allow for native null handling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4E58C-6060-4280-AF70-96E146DD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638714-A08B-AC74-4786-96D5922E9B9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EC494B-B76A-751E-B30C-B3D7944F2FD5}"/>
              </a:ext>
            </a:extLst>
          </p:cNvPr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6A5A18-C79B-1556-D68B-0884D7E117A0}"/>
              </a:ext>
            </a:extLst>
          </p:cNvPr>
          <p:cNvSpPr txBox="1"/>
          <p:nvPr/>
        </p:nvSpPr>
        <p:spPr>
          <a:xfrm>
            <a:off x="1371600" y="2560320"/>
            <a:ext cx="9144000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003399"/>
                </a:solidFill>
              </a:defRPr>
            </a:pPr>
            <a:r>
              <a:rPr lang="en-US" noProof="0" dirty="0"/>
              <a:t>0</a:t>
            </a:r>
            <a:r>
              <a:rPr lang="en-US" dirty="0"/>
              <a:t>2</a:t>
            </a:r>
            <a:endParaRPr lang="en-US" noProof="0" dirty="0"/>
          </a:p>
          <a:p>
            <a:pPr>
              <a:defRPr sz="3600" b="1">
                <a:solidFill>
                  <a:srgbClr val="2167AE"/>
                </a:solidFill>
              </a:defRPr>
            </a:pPr>
            <a:r>
              <a:rPr lang="en-US" noProof="0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196562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57658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Arial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Analysis – General findings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292" y="1482260"/>
            <a:ext cx="2642235" cy="475488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D5C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214884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003399"/>
                </a:solidFill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Stability of claim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raitios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&amp; avg. </a:t>
            </a:r>
            <a:r>
              <a:rPr lang="en-US" sz="2000" b="1" dirty="0">
                <a:solidFill>
                  <a:srgbClr val="003399"/>
                </a:solidFill>
                <a:latin typeface="Calibri"/>
              </a:rPr>
              <a:t>l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333333"/>
                </a:solidFill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The distribution of claim ratios seems to have a slight upward trend.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333333"/>
                </a:solidFill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Variance increase at the extremes seems to be caused by a difference in the number of observations.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333333"/>
                </a:solidFill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The distribution of the avg loss seems stable.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333333"/>
                </a:solidFill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We can observe a consistent discrepancy between coverage types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AC3CAD-807B-141F-3005-207263ED3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595" y="1544461"/>
            <a:ext cx="3840480" cy="46304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B48AAF-A72B-A30B-2F9A-596A905BC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492" y="1544461"/>
            <a:ext cx="4373148" cy="46304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A533B-E3B5-4ECA-9012-70698BD59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8B8F64-158A-581C-351E-644951977DAB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289A28-6403-48C1-6D08-3E9BC6D57C52}"/>
              </a:ext>
            </a:extLst>
          </p:cNvPr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0DDBE0-6965-3246-993C-A7D7854F493C}"/>
              </a:ext>
            </a:extLst>
          </p:cNvPr>
          <p:cNvSpPr txBox="1"/>
          <p:nvPr/>
        </p:nvSpPr>
        <p:spPr>
          <a:xfrm>
            <a:off x="548640" y="182880"/>
            <a:ext cx="57658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2800" b="1">
                <a:solidFill>
                  <a:srgbClr val="FFFFFF"/>
                </a:solidFill>
                <a:latin typeface="Arial"/>
              </a:defRPr>
            </a:pPr>
            <a:r>
              <a:rPr lang="en-US" sz="2800" b="1" dirty="0">
                <a:solidFill>
                  <a:srgbClr val="FFFFFF"/>
                </a:solidFill>
                <a:latin typeface="Arial"/>
              </a:rPr>
              <a:t>Data Analysis – General findings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24D611-D81C-8A0B-2FED-84B0B0C93E40}"/>
              </a:ext>
            </a:extLst>
          </p:cNvPr>
          <p:cNvSpPr/>
          <p:nvPr/>
        </p:nvSpPr>
        <p:spPr>
          <a:xfrm>
            <a:off x="1504950" y="1305580"/>
            <a:ext cx="8915400" cy="171194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D5C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FA48B-3C8B-3D77-D79E-696CEBD0A2E3}"/>
              </a:ext>
            </a:extLst>
          </p:cNvPr>
          <p:cNvSpPr txBox="1"/>
          <p:nvPr/>
        </p:nvSpPr>
        <p:spPr>
          <a:xfrm>
            <a:off x="2543448" y="1514989"/>
            <a:ext cx="764177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003399"/>
                </a:solidFill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Massive discrepancies in behaviors by coverage type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333333"/>
                </a:solidFill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Policies are evenly distributed yet; AL has only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35% of the claims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but brings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93% of the losses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333333"/>
                </a:solidFill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This can be seen in the differences in avg loss distribution.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A1A9F2-8549-94AF-E986-3E7C395EB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334" y="3291840"/>
            <a:ext cx="4888544" cy="34064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33920E-FCAB-08D9-43F5-53F761C90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17" y="3291840"/>
            <a:ext cx="4788854" cy="313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799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CE9CA-A33B-1809-4539-CB6C73D25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07E10D-DFDC-64C0-FE14-F41E27A1649E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64E33A-4E19-C0FA-26D7-E030EE6F9F13}"/>
              </a:ext>
            </a:extLst>
          </p:cNvPr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7AB28-8F15-84F5-E912-A5BA58A6DE60}"/>
              </a:ext>
            </a:extLst>
          </p:cNvPr>
          <p:cNvSpPr txBox="1"/>
          <p:nvPr/>
        </p:nvSpPr>
        <p:spPr>
          <a:xfrm>
            <a:off x="548640" y="182880"/>
            <a:ext cx="57658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 sz="2800" b="1">
                <a:solidFill>
                  <a:srgbClr val="FFFFFF"/>
                </a:solidFill>
                <a:latin typeface="Arial"/>
              </a:defRPr>
            </a:pPr>
            <a:r>
              <a:rPr lang="en-US" sz="2800" b="1" dirty="0">
                <a:solidFill>
                  <a:srgbClr val="FFFFFF"/>
                </a:solidFill>
                <a:latin typeface="Arial"/>
              </a:rPr>
              <a:t>Data Analysis – General findings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27B4CB-FCFA-8A1F-840E-98482DDA2A9C}"/>
              </a:ext>
            </a:extLst>
          </p:cNvPr>
          <p:cNvGrpSpPr/>
          <p:nvPr/>
        </p:nvGrpSpPr>
        <p:grpSpPr>
          <a:xfrm>
            <a:off x="8564692" y="1463040"/>
            <a:ext cx="2956748" cy="4754880"/>
            <a:chOff x="8004622" y="1463040"/>
            <a:chExt cx="2956748" cy="475488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DA20CF49-8AB2-A0BB-E911-5A8C09213A6A}"/>
                </a:ext>
              </a:extLst>
            </p:cNvPr>
            <p:cNvSpPr/>
            <p:nvPr/>
          </p:nvSpPr>
          <p:spPr>
            <a:xfrm>
              <a:off x="8004622" y="1463040"/>
              <a:ext cx="2956748" cy="4754880"/>
            </a:xfrm>
            <a:prstGeom prst="roundRect">
              <a:avLst/>
            </a:prstGeom>
            <a:solidFill>
              <a:srgbClr val="F5F6F8"/>
            </a:solidFill>
            <a:ln w="19050">
              <a:solidFill>
                <a:srgbClr val="D5CE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1ECB45-67E5-91EE-A0CA-C53B07DB024A}"/>
                </a:ext>
              </a:extLst>
            </p:cNvPr>
            <p:cNvSpPr txBox="1"/>
            <p:nvPr/>
          </p:nvSpPr>
          <p:spPr>
            <a:xfrm>
              <a:off x="8211632" y="1737360"/>
              <a:ext cx="2475417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99"/>
                  </a:solidFill>
                </a:defRPr>
              </a:pPr>
              <a:r>
                <a:rPr lang="en-US" sz="2000" b="1" dirty="0">
                  <a:solidFill>
                    <a:srgbClr val="003399"/>
                  </a:solidFill>
                  <a:latin typeface="Calibri"/>
                </a:rPr>
                <a:t>Discrepancies are much less evident elsewhere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>
                  <a:solidFill>
                    <a:srgbClr val="333333"/>
                  </a:solidFill>
                </a:defRPr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• No other</a:t>
              </a:r>
              <a:r>
                <a:rPr lang="en-US" sz="1400" dirty="0">
                  <a:solidFill>
                    <a:srgbClr val="333333"/>
                  </a:solidFill>
                  <a:latin typeface="Calibri"/>
                </a:rPr>
                <a:t>r feature exhibits such extreme behavior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1F6857-EBA0-C595-6764-C50019F4C15E}"/>
                </a:ext>
              </a:extLst>
            </p:cNvPr>
            <p:cNvSpPr txBox="1"/>
            <p:nvPr/>
          </p:nvSpPr>
          <p:spPr>
            <a:xfrm>
              <a:off x="8211632" y="3439597"/>
              <a:ext cx="2475417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99"/>
                  </a:solidFill>
                </a:defRPr>
              </a:pPr>
              <a:r>
                <a:rPr lang="en-US" sz="2000" b="1" dirty="0">
                  <a:solidFill>
                    <a:srgbClr val="003399"/>
                  </a:solidFill>
                  <a:latin typeface="Calibri"/>
                </a:rPr>
                <a:t>Other observations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>
                  <a:solidFill>
                    <a:srgbClr val="333333"/>
                  </a:solidFill>
                </a:defRPr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• Business “size” indicators do seem to have a noticeable effect in both claims and loss.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CD1469BE-9435-4250-80E0-7FB729C70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08" y="1188720"/>
            <a:ext cx="3840480" cy="2512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86349AF-A83C-8FEA-F44F-2DFAC3F62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15" y="3932039"/>
            <a:ext cx="4063865" cy="27569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21BFC2-AAB0-A710-41F2-1787012F9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572" y="1212754"/>
            <a:ext cx="4097236" cy="24642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E03B0F-A4F8-6D9D-BFEA-3722CCEF56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1572" y="3932039"/>
            <a:ext cx="4097236" cy="268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667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CB3F4-4DD1-05B4-BA84-A1EAA96F8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5B0685-4CBE-A0EF-A2E5-D8C4598F2F85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203C92-AC5B-39AB-48EF-23A788D57DE9}"/>
              </a:ext>
            </a:extLst>
          </p:cNvPr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A063F0-F8EB-7390-251A-1837C9C0CF55}"/>
              </a:ext>
            </a:extLst>
          </p:cNvPr>
          <p:cNvSpPr txBox="1"/>
          <p:nvPr/>
        </p:nvSpPr>
        <p:spPr>
          <a:xfrm>
            <a:off x="548640" y="182880"/>
            <a:ext cx="90647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Arial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Analysis – Metrics relevant for model selection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6E6490-F8DD-E718-7F55-84C362314599}"/>
              </a:ext>
            </a:extLst>
          </p:cNvPr>
          <p:cNvGrpSpPr/>
          <p:nvPr/>
        </p:nvGrpSpPr>
        <p:grpSpPr>
          <a:xfrm>
            <a:off x="548640" y="2204740"/>
            <a:ext cx="3452948" cy="3647420"/>
            <a:chOff x="8004622" y="1463040"/>
            <a:chExt cx="2956748" cy="5831175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4E53BA7-9F7B-572B-0C6C-2206224078F7}"/>
                </a:ext>
              </a:extLst>
            </p:cNvPr>
            <p:cNvSpPr/>
            <p:nvPr/>
          </p:nvSpPr>
          <p:spPr>
            <a:xfrm>
              <a:off x="8004622" y="1463040"/>
              <a:ext cx="2956748" cy="5831175"/>
            </a:xfrm>
            <a:prstGeom prst="roundRect">
              <a:avLst/>
            </a:prstGeom>
            <a:solidFill>
              <a:srgbClr val="F5F6F8"/>
            </a:solidFill>
            <a:ln w="19050">
              <a:solidFill>
                <a:srgbClr val="D5CE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432AC6D-C304-C8CA-CA8D-4C439D63CD91}"/>
                </a:ext>
              </a:extLst>
            </p:cNvPr>
            <p:cNvSpPr txBox="1"/>
            <p:nvPr/>
          </p:nvSpPr>
          <p:spPr>
            <a:xfrm>
              <a:off x="8211632" y="1737360"/>
              <a:ext cx="2475417" cy="48220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99"/>
                  </a:solidFill>
                </a:defRPr>
              </a:pPr>
              <a:r>
                <a:rPr lang="en-US" sz="3200" b="1" dirty="0">
                  <a:solidFill>
                    <a:srgbClr val="003399"/>
                  </a:solidFill>
                  <a:latin typeface="Calibri"/>
                </a:rPr>
                <a:t>Metrics tested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99"/>
                  </a:solidFill>
                </a:defRPr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>
                  <a:solidFill>
                    <a:srgbClr val="333333"/>
                  </a:solidFill>
                </a:defRPr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• Lineal correlation between features</a:t>
              </a:r>
            </a:p>
            <a:p>
              <a:pPr lvl="0">
                <a:spcBef>
                  <a:spcPts val="1200"/>
                </a:spcBef>
                <a:defRPr sz="1400">
                  <a:solidFill>
                    <a:srgbClr val="333333"/>
                  </a:solidFill>
                </a:defRPr>
              </a:pPr>
              <a:r>
                <a:rPr lang="en-US" dirty="0">
                  <a:solidFill>
                    <a:srgbClr val="333333"/>
                  </a:solidFill>
                </a:rPr>
                <a:t>• VIF</a:t>
              </a:r>
            </a:p>
            <a:p>
              <a:pPr lvl="0">
                <a:spcBef>
                  <a:spcPts val="1200"/>
                </a:spcBef>
                <a:defRPr sz="1400">
                  <a:solidFill>
                    <a:srgbClr val="333333"/>
                  </a:solidFill>
                </a:defRPr>
              </a:pPr>
              <a:r>
                <a:rPr lang="en-US" dirty="0">
                  <a:solidFill>
                    <a:srgbClr val="333333"/>
                  </a:solidFill>
                </a:rPr>
                <a:t>• Box-</a:t>
              </a:r>
              <a:r>
                <a:rPr lang="en-US" dirty="0" err="1">
                  <a:solidFill>
                    <a:srgbClr val="333333"/>
                  </a:solidFill>
                </a:rPr>
                <a:t>Tidewell</a:t>
              </a:r>
              <a:r>
                <a:rPr lang="en-US" dirty="0">
                  <a:solidFill>
                    <a:srgbClr val="333333"/>
                  </a:solidFill>
                </a:rPr>
                <a:t> test for continuous variables (for logistic regression)</a:t>
              </a:r>
            </a:p>
            <a:p>
              <a:pPr lvl="0">
                <a:spcBef>
                  <a:spcPts val="1200"/>
                </a:spcBef>
                <a:defRPr sz="1400">
                  <a:solidFill>
                    <a:srgbClr val="333333"/>
                  </a:solidFill>
                </a:defRPr>
              </a:pPr>
              <a:r>
                <a:rPr lang="en-US" dirty="0">
                  <a:solidFill>
                    <a:srgbClr val="333333"/>
                  </a:solidFill>
                </a:rPr>
                <a:t>• Poisson test (for number of claims)</a:t>
              </a:r>
            </a:p>
            <a:p>
              <a:pPr lvl="0">
                <a:spcBef>
                  <a:spcPts val="1200"/>
                </a:spcBef>
                <a:defRPr sz="1400">
                  <a:solidFill>
                    <a:srgbClr val="333333"/>
                  </a:solidFill>
                </a:defRPr>
              </a:pPr>
              <a:r>
                <a:rPr lang="en-US" dirty="0">
                  <a:solidFill>
                    <a:srgbClr val="333333"/>
                  </a:solidFill>
                </a:rPr>
                <a:t>• Mutual Information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0CF5B3B9-46F7-6034-7F3B-CFBA4D2E7B98}"/>
              </a:ext>
            </a:extLst>
          </p:cNvPr>
          <p:cNvSpPr/>
          <p:nvPr/>
        </p:nvSpPr>
        <p:spPr>
          <a:xfrm>
            <a:off x="4154616" y="2193370"/>
            <a:ext cx="7603043" cy="3710666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D5C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A35276-A7D9-AAE5-D2D1-238D3212F135}"/>
              </a:ext>
            </a:extLst>
          </p:cNvPr>
          <p:cNvSpPr txBox="1"/>
          <p:nvPr/>
        </p:nvSpPr>
        <p:spPr>
          <a:xfrm>
            <a:off x="4001588" y="2314695"/>
            <a:ext cx="7641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003399"/>
                </a:solidFill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Results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4413F9-E13B-F79F-3E04-3014CF8D30E1}"/>
              </a:ext>
            </a:extLst>
          </p:cNvPr>
          <p:cNvSpPr txBox="1"/>
          <p:nvPr/>
        </p:nvSpPr>
        <p:spPr>
          <a:xfrm>
            <a:off x="4331199" y="3336115"/>
            <a:ext cx="731216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333333"/>
                </a:solidFill>
              </a:defRPr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lang="en-US" dirty="0">
                <a:solidFill>
                  <a:srgbClr val="333333"/>
                </a:solidFill>
                <a:latin typeface="Calibri"/>
              </a:rPr>
              <a:t>Correlation matrix </a:t>
            </a:r>
            <a:r>
              <a:rPr lang="en-US" b="1" dirty="0">
                <a:solidFill>
                  <a:srgbClr val="333333"/>
                </a:solidFill>
                <a:latin typeface="Calibri"/>
              </a:rPr>
              <a:t>doesn’t show </a:t>
            </a:r>
            <a:r>
              <a:rPr lang="en-US" dirty="0">
                <a:solidFill>
                  <a:srgbClr val="333333"/>
                </a:solidFill>
                <a:latin typeface="Calibri"/>
              </a:rPr>
              <a:t>any significant signals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333333"/>
                </a:solidFill>
              </a:defRPr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VIF is between expected ranges for all features except the temporal ones.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333333"/>
                </a:solidFill>
              </a:defRPr>
            </a:pPr>
            <a:r>
              <a:rPr lang="en-US" dirty="0">
                <a:solidFill>
                  <a:srgbClr val="333333"/>
                </a:solidFill>
              </a:rPr>
              <a:t>• Box-</a:t>
            </a:r>
            <a:r>
              <a:rPr lang="en-US" dirty="0" err="1">
                <a:solidFill>
                  <a:srgbClr val="333333"/>
                </a:solidFill>
              </a:rPr>
              <a:t>Tidewell</a:t>
            </a:r>
            <a:r>
              <a:rPr lang="en-US" dirty="0">
                <a:solidFill>
                  <a:srgbClr val="333333"/>
                </a:solidFill>
              </a:rPr>
              <a:t> fails for driver avg. age but it´s somewhat close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333333"/>
                </a:solidFill>
              </a:defRPr>
            </a:pPr>
            <a:r>
              <a:rPr lang="en-US" dirty="0">
                <a:solidFill>
                  <a:srgbClr val="333333"/>
                </a:solidFill>
              </a:rPr>
              <a:t>• The number of claims does appear to be Poisson distributed</a:t>
            </a:r>
            <a:endParaRPr lang="en-US" dirty="0">
              <a:solidFill>
                <a:srgbClr val="333333"/>
              </a:solidFill>
              <a:latin typeface="Calibri"/>
            </a:endParaRPr>
          </a:p>
          <a:p>
            <a:pPr lvl="0"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rPr lang="en-US" dirty="0">
                <a:solidFill>
                  <a:srgbClr val="333333"/>
                </a:solidFill>
              </a:rPr>
              <a:t>• MI </a:t>
            </a:r>
            <a:r>
              <a:rPr lang="en-US" b="1" dirty="0">
                <a:solidFill>
                  <a:srgbClr val="333333"/>
                </a:solidFill>
              </a:rPr>
              <a:t>is low </a:t>
            </a:r>
            <a:r>
              <a:rPr lang="en-US" dirty="0">
                <a:solidFill>
                  <a:srgbClr val="333333"/>
                </a:solidFill>
              </a:rPr>
              <a:t>in general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1532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F7241-3A3A-8BCB-632E-51F30E2C3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2CD966-2961-693B-53B8-F9135D98283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546D31-C8BE-70A4-E65F-08AF6C422162}"/>
              </a:ext>
            </a:extLst>
          </p:cNvPr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79ED0E-2462-4FA0-8435-49E35AF8ADA0}"/>
              </a:ext>
            </a:extLst>
          </p:cNvPr>
          <p:cNvSpPr txBox="1"/>
          <p:nvPr/>
        </p:nvSpPr>
        <p:spPr>
          <a:xfrm>
            <a:off x="1371600" y="2560320"/>
            <a:ext cx="9144000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003399"/>
                </a:solidFill>
              </a:defRPr>
            </a:pPr>
            <a:r>
              <a:rPr lang="en-US" noProof="0" dirty="0"/>
              <a:t>0</a:t>
            </a:r>
            <a:r>
              <a:rPr lang="en-US" dirty="0"/>
              <a:t>3</a:t>
            </a:r>
            <a:endParaRPr lang="en-US" noProof="0" dirty="0"/>
          </a:p>
          <a:p>
            <a:pPr>
              <a:defRPr sz="3600" b="1">
                <a:solidFill>
                  <a:srgbClr val="2167AE"/>
                </a:solidFill>
              </a:defRPr>
            </a:pPr>
            <a:r>
              <a:rPr lang="en-US" noProof="0" dirty="0"/>
              <a:t>Modeling</a:t>
            </a:r>
          </a:p>
        </p:txBody>
      </p:sp>
    </p:spTree>
    <p:extLst>
      <p:ext uri="{BB962C8B-B14F-4D97-AF65-F5344CB8AC3E}">
        <p14:creationId xmlns:p14="http://schemas.microsoft.com/office/powerpoint/2010/main" val="1879415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D6BA-0A5A-E591-A296-ADAEE7499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1F57FF-2BD9-B202-4142-20E45C22F481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55AD0-88B1-F699-2A80-304B42427906}"/>
              </a:ext>
            </a:extLst>
          </p:cNvPr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4D4B4-E088-6A79-B21F-7D8FEEB9D583}"/>
              </a:ext>
            </a:extLst>
          </p:cNvPr>
          <p:cNvSpPr txBox="1"/>
          <p:nvPr/>
        </p:nvSpPr>
        <p:spPr>
          <a:xfrm>
            <a:off x="548640" y="182880"/>
            <a:ext cx="49776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Arial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Modeling – Initial evaluation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76FBCA4-2EC3-3912-E941-92E25E4DF3CB}"/>
              </a:ext>
            </a:extLst>
          </p:cNvPr>
          <p:cNvGrpSpPr/>
          <p:nvPr/>
        </p:nvGrpSpPr>
        <p:grpSpPr>
          <a:xfrm>
            <a:off x="647547" y="1849922"/>
            <a:ext cx="5448300" cy="4258339"/>
            <a:chOff x="8089448" y="195312"/>
            <a:chExt cx="4665361" cy="5831175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90E313F-5D07-6B9B-75D2-D28F244C219F}"/>
                </a:ext>
              </a:extLst>
            </p:cNvPr>
            <p:cNvSpPr/>
            <p:nvPr/>
          </p:nvSpPr>
          <p:spPr>
            <a:xfrm>
              <a:off x="8089448" y="195312"/>
              <a:ext cx="4665361" cy="5831175"/>
            </a:xfrm>
            <a:prstGeom prst="roundRect">
              <a:avLst/>
            </a:prstGeom>
            <a:solidFill>
              <a:srgbClr val="F5F6F8"/>
            </a:solidFill>
            <a:ln w="19050">
              <a:solidFill>
                <a:srgbClr val="D5CE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D6616D-816D-6414-E86A-8412C307668A}"/>
                </a:ext>
              </a:extLst>
            </p:cNvPr>
            <p:cNvSpPr txBox="1"/>
            <p:nvPr/>
          </p:nvSpPr>
          <p:spPr>
            <a:xfrm>
              <a:off x="8360988" y="469632"/>
              <a:ext cx="3905882" cy="50996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99"/>
                  </a:solidFill>
                </a:defRPr>
              </a:pPr>
              <a:r>
                <a:rPr lang="en-US" sz="3200" b="1" dirty="0">
                  <a:solidFill>
                    <a:srgbClr val="003399"/>
                  </a:solidFill>
                  <a:latin typeface="Calibri"/>
                </a:rPr>
                <a:t>Review of the initial draft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>
                  <a:solidFill>
                    <a:srgbClr val="333333"/>
                  </a:solidFill>
                </a:defRPr>
              </a:pPr>
              <a:r>
                <a:rPr kumimoji="0" 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The initial draft had three kind of problems that needed to be solved at baseline</a:t>
              </a:r>
            </a:p>
            <a:p>
              <a:pPr lvl="0">
                <a:spcBef>
                  <a:spcPts val="1200"/>
                </a:spcBef>
                <a:defRPr sz="1400">
                  <a:solidFill>
                    <a:srgbClr val="333333"/>
                  </a:solidFill>
                </a:defRPr>
              </a:pPr>
              <a:r>
                <a:rPr lang="en-US" dirty="0">
                  <a:solidFill>
                    <a:srgbClr val="333333"/>
                  </a:solidFill>
                </a:rPr>
                <a:t>• </a:t>
              </a:r>
              <a:r>
                <a:rPr lang="en-US" sz="1600" b="1" dirty="0">
                  <a:solidFill>
                    <a:srgbClr val="333333"/>
                  </a:solidFill>
                </a:rPr>
                <a:t>Code quality: </a:t>
              </a:r>
              <a:r>
                <a:rPr lang="en-US" dirty="0">
                  <a:solidFill>
                    <a:srgbClr val="333333"/>
                  </a:solidFill>
                </a:rPr>
                <a:t>poor or confusing naming’s , using the                wrong object, no consideration for next steps.</a:t>
              </a:r>
              <a:endParaRPr lang="en-US" b="1" dirty="0">
                <a:solidFill>
                  <a:srgbClr val="333333"/>
                </a:solidFill>
              </a:endParaRPr>
            </a:p>
            <a:p>
              <a:pPr lvl="0">
                <a:spcBef>
                  <a:spcPts val="1200"/>
                </a:spcBef>
                <a:defRPr sz="1400">
                  <a:solidFill>
                    <a:srgbClr val="333333"/>
                  </a:solidFill>
                </a:defRPr>
              </a:pPr>
              <a:r>
                <a:rPr lang="en-US" dirty="0">
                  <a:solidFill>
                    <a:srgbClr val="333333"/>
                  </a:solidFill>
                </a:rPr>
                <a:t>• </a:t>
              </a:r>
              <a:r>
                <a:rPr lang="en-US" sz="1600" b="1" dirty="0">
                  <a:solidFill>
                    <a:srgbClr val="333333"/>
                  </a:solidFill>
                </a:rPr>
                <a:t>Core misunderstandings about ml: </a:t>
              </a:r>
              <a:r>
                <a:rPr lang="en-US" dirty="0">
                  <a:solidFill>
                    <a:srgbClr val="333333"/>
                  </a:solidFill>
                </a:rPr>
                <a:t>No consideration for target leakage, filling values or doing encodings just because, no previous analysis in sight.</a:t>
              </a:r>
              <a:endParaRPr lang="en-US" b="1" dirty="0">
                <a:solidFill>
                  <a:srgbClr val="333333"/>
                </a:solidFill>
              </a:endParaRPr>
            </a:p>
            <a:p>
              <a:pPr lvl="0">
                <a:spcBef>
                  <a:spcPts val="1200"/>
                </a:spcBef>
                <a:defRPr sz="1400">
                  <a:solidFill>
                    <a:srgbClr val="333333"/>
                  </a:solidFill>
                </a:defRPr>
              </a:pPr>
              <a:r>
                <a:rPr lang="en-US" dirty="0">
                  <a:solidFill>
                    <a:srgbClr val="333333"/>
                  </a:solidFill>
                </a:rPr>
                <a:t>• </a:t>
              </a:r>
              <a:r>
                <a:rPr lang="en-US" sz="1600" b="1" dirty="0">
                  <a:solidFill>
                    <a:srgbClr val="333333"/>
                  </a:solidFill>
                </a:rPr>
                <a:t>Poor understanding of the use case: </a:t>
              </a:r>
              <a:r>
                <a:rPr lang="en-US" dirty="0">
                  <a:solidFill>
                    <a:srgbClr val="333333"/>
                  </a:solidFill>
                </a:rPr>
                <a:t>Naive view on risk, it is only considering the </a:t>
              </a:r>
              <a:r>
                <a:rPr lang="en-US" b="1" dirty="0">
                  <a:solidFill>
                    <a:srgbClr val="333333"/>
                  </a:solidFill>
                </a:rPr>
                <a:t>probability of at least an event </a:t>
              </a:r>
              <a:r>
                <a:rPr lang="en-US" dirty="0">
                  <a:solidFill>
                    <a:srgbClr val="333333"/>
                  </a:solidFill>
                </a:rPr>
                <a:t>happening which </a:t>
              </a:r>
              <a:r>
                <a:rPr lang="en-US" b="1" dirty="0">
                  <a:solidFill>
                    <a:srgbClr val="333333"/>
                  </a:solidFill>
                </a:rPr>
                <a:t>doesn’t help us to understand nor frequency nor severity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47D7E2A-CF2F-FE08-7245-C2A786771CFD}"/>
              </a:ext>
            </a:extLst>
          </p:cNvPr>
          <p:cNvSpPr txBox="1"/>
          <p:nvPr/>
        </p:nvSpPr>
        <p:spPr>
          <a:xfrm>
            <a:off x="7871019" y="1849922"/>
            <a:ext cx="24316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167AE"/>
                </a:solidFill>
              </a:defRPr>
            </a:pPr>
            <a:r>
              <a:rPr lang="en-US" noProof="0" dirty="0"/>
              <a:t>Old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99CD7C-96C4-32CD-7821-C792492537F8}"/>
              </a:ext>
            </a:extLst>
          </p:cNvPr>
          <p:cNvSpPr txBox="1"/>
          <p:nvPr/>
        </p:nvSpPr>
        <p:spPr>
          <a:xfrm>
            <a:off x="7871019" y="4038582"/>
            <a:ext cx="24316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167AE"/>
                </a:solidFill>
              </a:defRPr>
            </a:pPr>
            <a:r>
              <a:rPr lang="en-US" dirty="0"/>
              <a:t>New</a:t>
            </a:r>
            <a:r>
              <a:rPr lang="en-US" noProof="0" dirty="0"/>
              <a:t> Model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340745-E5C5-454E-6D96-9D9D642AE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390" y="2673971"/>
            <a:ext cx="1933610" cy="7550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04EA1D-4FFF-802E-17C6-690E4EAAE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560" y="4894445"/>
            <a:ext cx="4672579" cy="80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23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013D3-6BE3-73A9-D827-1F8ECF1FC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4B5B46-BDD6-F078-6909-7E5CA4C6C6B8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685E46-4FDD-94E1-C2FA-278DE885F8FA}"/>
              </a:ext>
            </a:extLst>
          </p:cNvPr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2EA78-4272-0EA1-0525-FB60E3F4347D}"/>
              </a:ext>
            </a:extLst>
          </p:cNvPr>
          <p:cNvSpPr txBox="1"/>
          <p:nvPr/>
        </p:nvSpPr>
        <p:spPr>
          <a:xfrm>
            <a:off x="548640" y="182880"/>
            <a:ext cx="79736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Arial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Modeling – 1) Probability of at least one claim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F219859-7B1B-D304-EB01-047EEA9401D7}"/>
              </a:ext>
            </a:extLst>
          </p:cNvPr>
          <p:cNvGrpSpPr/>
          <p:nvPr/>
        </p:nvGrpSpPr>
        <p:grpSpPr>
          <a:xfrm>
            <a:off x="647547" y="1305580"/>
            <a:ext cx="5448300" cy="5296388"/>
            <a:chOff x="8089448" y="195312"/>
            <a:chExt cx="4665361" cy="5831175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BA34C0B-5CF3-C58B-EC78-D6193DAF010C}"/>
                </a:ext>
              </a:extLst>
            </p:cNvPr>
            <p:cNvSpPr/>
            <p:nvPr/>
          </p:nvSpPr>
          <p:spPr>
            <a:xfrm>
              <a:off x="8089448" y="195312"/>
              <a:ext cx="4665361" cy="5831175"/>
            </a:xfrm>
            <a:prstGeom prst="roundRect">
              <a:avLst/>
            </a:prstGeom>
            <a:solidFill>
              <a:srgbClr val="F5F6F8"/>
            </a:solidFill>
            <a:ln w="19050">
              <a:solidFill>
                <a:srgbClr val="D5CE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C7672D7-6A24-C473-F2EB-B5BCB470CD2F}"/>
                </a:ext>
              </a:extLst>
            </p:cNvPr>
            <p:cNvSpPr txBox="1"/>
            <p:nvPr/>
          </p:nvSpPr>
          <p:spPr>
            <a:xfrm>
              <a:off x="8360988" y="469632"/>
              <a:ext cx="3905882" cy="20229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99"/>
                  </a:solidFill>
                </a:defRPr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Overview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>
                  <a:solidFill>
                    <a:srgbClr val="333333"/>
                  </a:solidFill>
                </a:defRPr>
              </a:pPr>
              <a:r>
                <a:rPr kumimoji="0" 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Given the results of the data analysis logistic regression did seem to be a good approach, I also tried SVC and cat boost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BCE90CD-C924-2E10-52B0-F4CF7F96148D}"/>
              </a:ext>
            </a:extLst>
          </p:cNvPr>
          <p:cNvSpPr txBox="1"/>
          <p:nvPr/>
        </p:nvSpPr>
        <p:spPr>
          <a:xfrm>
            <a:off x="7375718" y="1305580"/>
            <a:ext cx="3673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167AE"/>
                </a:solidFill>
              </a:defRPr>
            </a:pPr>
            <a:r>
              <a:rPr lang="en-US" noProof="0" dirty="0"/>
              <a:t>Confusion matrix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024EC-A75C-F5E3-56B9-E349132BA537}"/>
              </a:ext>
            </a:extLst>
          </p:cNvPr>
          <p:cNvSpPr txBox="1"/>
          <p:nvPr/>
        </p:nvSpPr>
        <p:spPr>
          <a:xfrm>
            <a:off x="7871019" y="4207417"/>
            <a:ext cx="24316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167AE"/>
                </a:solidFill>
              </a:defRPr>
            </a:pPr>
            <a:r>
              <a:rPr lang="en-US" dirty="0"/>
              <a:t>Key Metrics</a:t>
            </a:r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A406C1-09E7-6228-0D70-FDF7A3CE7E95}"/>
              </a:ext>
            </a:extLst>
          </p:cNvPr>
          <p:cNvSpPr txBox="1"/>
          <p:nvPr/>
        </p:nvSpPr>
        <p:spPr>
          <a:xfrm>
            <a:off x="964657" y="3791919"/>
            <a:ext cx="4561366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003399"/>
                </a:solidFill>
              </a:defRPr>
            </a:pPr>
            <a:r>
              <a:rPr lang="en-US" sz="3200" b="1" dirty="0">
                <a:solidFill>
                  <a:srgbClr val="003399"/>
                </a:solidFill>
                <a:latin typeface="Calibri"/>
              </a:rPr>
              <a:t>Results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rgbClr val="333333"/>
                </a:solidFill>
              </a:defRPr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performance overall was poor; the best fairing was logistic regression which results are showed here, over all we prefer to classify a no-claim policy as claim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E14A0D-4023-ABD6-9235-02105EE6F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316" y="1951911"/>
            <a:ext cx="2788238" cy="23343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485D42-203D-7E92-001F-D64A4EFA4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375" y="4932581"/>
            <a:ext cx="3246120" cy="143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79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B5618-418A-6514-4119-8F5C936C1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313E20-BA5C-12A5-D3D1-C7948B78196D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574A8-B310-13B0-1936-B5BF4B9E9214}"/>
              </a:ext>
            </a:extLst>
          </p:cNvPr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09DE79-A7F2-4271-D0E9-45589D04986D}"/>
              </a:ext>
            </a:extLst>
          </p:cNvPr>
          <p:cNvSpPr txBox="1"/>
          <p:nvPr/>
        </p:nvSpPr>
        <p:spPr>
          <a:xfrm>
            <a:off x="548640" y="182880"/>
            <a:ext cx="54585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Arial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Modeling – 2) Expected Claims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314DF89-6269-F954-C7E6-124A4070DAF8}"/>
              </a:ext>
            </a:extLst>
          </p:cNvPr>
          <p:cNvGrpSpPr/>
          <p:nvPr/>
        </p:nvGrpSpPr>
        <p:grpSpPr>
          <a:xfrm>
            <a:off x="647547" y="1305580"/>
            <a:ext cx="5448300" cy="5296388"/>
            <a:chOff x="8089448" y="195312"/>
            <a:chExt cx="4665361" cy="5831175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7E7B1B56-7508-637D-71F4-9366E975E491}"/>
                </a:ext>
              </a:extLst>
            </p:cNvPr>
            <p:cNvSpPr/>
            <p:nvPr/>
          </p:nvSpPr>
          <p:spPr>
            <a:xfrm>
              <a:off x="8089448" y="195312"/>
              <a:ext cx="4665361" cy="5831175"/>
            </a:xfrm>
            <a:prstGeom prst="roundRect">
              <a:avLst/>
            </a:prstGeom>
            <a:solidFill>
              <a:srgbClr val="F5F6F8"/>
            </a:solidFill>
            <a:ln w="19050">
              <a:solidFill>
                <a:srgbClr val="D5CE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6DD501-E513-CD7E-EF96-D5876FEA0D08}"/>
                </a:ext>
              </a:extLst>
            </p:cNvPr>
            <p:cNvSpPr txBox="1"/>
            <p:nvPr/>
          </p:nvSpPr>
          <p:spPr>
            <a:xfrm>
              <a:off x="8360988" y="469632"/>
              <a:ext cx="3905882" cy="18975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99"/>
                  </a:solidFill>
                </a:defRPr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Overview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>
                  <a:solidFill>
                    <a:srgbClr val="333333"/>
                  </a:solidFill>
                </a:defRPr>
              </a:pPr>
              <a:r>
                <a:rPr kumimoji="0" 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Given the results of the data analysis, the distribution strongly resembles a Poisson distribution, so we tried Poisson Regression first, we also tried cat boost to contrast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694C269-995D-DF20-6FAF-EF0B013E4739}"/>
              </a:ext>
            </a:extLst>
          </p:cNvPr>
          <p:cNvSpPr txBox="1"/>
          <p:nvPr/>
        </p:nvSpPr>
        <p:spPr>
          <a:xfrm>
            <a:off x="7375717" y="1305580"/>
            <a:ext cx="410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167AE"/>
                </a:solidFill>
              </a:defRPr>
            </a:pPr>
            <a:r>
              <a:rPr lang="en-US" noProof="0" dirty="0"/>
              <a:t>Actual vs Predicted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E8C51-D481-BC17-B8D9-4774C13BF895}"/>
              </a:ext>
            </a:extLst>
          </p:cNvPr>
          <p:cNvSpPr txBox="1"/>
          <p:nvPr/>
        </p:nvSpPr>
        <p:spPr>
          <a:xfrm>
            <a:off x="8030639" y="4207417"/>
            <a:ext cx="24316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167AE"/>
                </a:solidFill>
              </a:defRPr>
            </a:pPr>
            <a:r>
              <a:rPr lang="en-US" dirty="0"/>
              <a:t>Key Metrics</a:t>
            </a:r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AECCC-B80E-A767-A50F-28F933A1B803}"/>
              </a:ext>
            </a:extLst>
          </p:cNvPr>
          <p:cNvSpPr txBox="1"/>
          <p:nvPr/>
        </p:nvSpPr>
        <p:spPr>
          <a:xfrm>
            <a:off x="964657" y="3791919"/>
            <a:ext cx="45613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003399"/>
                </a:solidFill>
              </a:defRPr>
            </a:pPr>
            <a:r>
              <a:rPr lang="en-US" sz="3200" b="1" dirty="0">
                <a:solidFill>
                  <a:srgbClr val="003399"/>
                </a:solidFill>
                <a:latin typeface="Calibri"/>
              </a:rPr>
              <a:t>Results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0">
              <a:spcBef>
                <a:spcPts val="1200"/>
              </a:spcBef>
              <a:defRPr sz="1400">
                <a:solidFill>
                  <a:srgbClr val="333333"/>
                </a:solidFill>
              </a:defRPr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performance overall was poor; the best fairing was </a:t>
            </a:r>
            <a:r>
              <a:rPr lang="en-US" sz="1600" dirty="0">
                <a:solidFill>
                  <a:srgbClr val="333333"/>
                </a:solidFill>
              </a:rPr>
              <a:t>Poisson Regression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results are showed here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C8AEE2-8A14-6D9B-B09D-16B43197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988" y="2030744"/>
            <a:ext cx="4976965" cy="19626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FE6B05-9E26-19AA-14D9-1BCC09B5A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780" y="5067816"/>
            <a:ext cx="1595379" cy="110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46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95338-C755-30C6-3CE3-D27BB84FB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A68998-5BCA-D018-69B7-297A31670F71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DC3649-20C4-2A8C-3891-8B9B328D2F43}"/>
              </a:ext>
            </a:extLst>
          </p:cNvPr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099F2-F38F-1109-1ED8-61B96B662BBB}"/>
              </a:ext>
            </a:extLst>
          </p:cNvPr>
          <p:cNvSpPr txBox="1"/>
          <p:nvPr/>
        </p:nvSpPr>
        <p:spPr>
          <a:xfrm>
            <a:off x="548640" y="182880"/>
            <a:ext cx="79736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Arial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Modeling – 1) Probability of at least one claim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2E0918A-447F-36D2-3852-2C2F8E8CFF55}"/>
              </a:ext>
            </a:extLst>
          </p:cNvPr>
          <p:cNvGrpSpPr/>
          <p:nvPr/>
        </p:nvGrpSpPr>
        <p:grpSpPr>
          <a:xfrm>
            <a:off x="647547" y="1305580"/>
            <a:ext cx="5448300" cy="5296388"/>
            <a:chOff x="8089448" y="195312"/>
            <a:chExt cx="4665361" cy="5831175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4810B899-5973-267C-4378-5136C2181586}"/>
                </a:ext>
              </a:extLst>
            </p:cNvPr>
            <p:cNvSpPr/>
            <p:nvPr/>
          </p:nvSpPr>
          <p:spPr>
            <a:xfrm>
              <a:off x="8089448" y="195312"/>
              <a:ext cx="4665361" cy="5831175"/>
            </a:xfrm>
            <a:prstGeom prst="roundRect">
              <a:avLst/>
            </a:prstGeom>
            <a:solidFill>
              <a:srgbClr val="F5F6F8"/>
            </a:solidFill>
            <a:ln w="19050">
              <a:solidFill>
                <a:srgbClr val="D5CE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22DFAC-3358-F43B-6CF6-7F39F5CB3B93}"/>
                </a:ext>
              </a:extLst>
            </p:cNvPr>
            <p:cNvSpPr txBox="1"/>
            <p:nvPr/>
          </p:nvSpPr>
          <p:spPr>
            <a:xfrm>
              <a:off x="8360988" y="469632"/>
              <a:ext cx="3905882" cy="13554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99"/>
                  </a:solidFill>
                </a:defRPr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Overview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>
                  <a:solidFill>
                    <a:srgbClr val="333333"/>
                  </a:solidFill>
                </a:defRPr>
              </a:pPr>
              <a:r>
                <a:rPr kumimoji="0" 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Given the distribution of the avg. losses and this problem being less restricted we only used cat-boost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74DE566-0648-3C66-08E6-ACAC46104B95}"/>
              </a:ext>
            </a:extLst>
          </p:cNvPr>
          <p:cNvSpPr txBox="1"/>
          <p:nvPr/>
        </p:nvSpPr>
        <p:spPr>
          <a:xfrm>
            <a:off x="7375718" y="1305580"/>
            <a:ext cx="3673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167AE"/>
                </a:solidFill>
              </a:defRPr>
            </a:pPr>
            <a:r>
              <a:rPr lang="en-US" noProof="0" dirty="0"/>
              <a:t>Confusion matrix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962CA-B5A6-61DC-4FB9-1F39F32FC96C}"/>
              </a:ext>
            </a:extLst>
          </p:cNvPr>
          <p:cNvSpPr txBox="1"/>
          <p:nvPr/>
        </p:nvSpPr>
        <p:spPr>
          <a:xfrm>
            <a:off x="7871019" y="4207417"/>
            <a:ext cx="24316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167AE"/>
                </a:solidFill>
              </a:defRPr>
            </a:pPr>
            <a:r>
              <a:rPr lang="en-US" dirty="0"/>
              <a:t>Key Metrics</a:t>
            </a:r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E35985-346D-B9ED-C1CB-6375E775E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457" y="2030744"/>
            <a:ext cx="4728718" cy="18647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3DD690-9968-0EF8-593A-6421BA5A5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702" y="5165709"/>
            <a:ext cx="1707466" cy="107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78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90FD8-6AF0-C0AC-E993-96A9D2050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55CCA1-CEE9-B420-8C4C-A46676960E8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2E553D-E1AB-6A38-5A27-175B57645A14}"/>
              </a:ext>
            </a:extLst>
          </p:cNvPr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8864B-7C28-522B-A489-1AC35F4BEA22}"/>
              </a:ext>
            </a:extLst>
          </p:cNvPr>
          <p:cNvSpPr txBox="1"/>
          <p:nvPr/>
        </p:nvSpPr>
        <p:spPr>
          <a:xfrm>
            <a:off x="1371600" y="2560320"/>
            <a:ext cx="9144000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003399"/>
                </a:solidFill>
              </a:defRPr>
            </a:pPr>
            <a:r>
              <a:rPr lang="en-US" noProof="0" dirty="0"/>
              <a:t>0</a:t>
            </a:r>
            <a:r>
              <a:rPr lang="en-US" dirty="0"/>
              <a:t>4</a:t>
            </a:r>
            <a:endParaRPr lang="en-US" noProof="0" dirty="0"/>
          </a:p>
          <a:p>
            <a:pPr>
              <a:defRPr sz="3600" b="1">
                <a:solidFill>
                  <a:srgbClr val="2167AE"/>
                </a:solidFill>
              </a:defRPr>
            </a:pPr>
            <a:r>
              <a:rPr lang="en-US" noProof="0" dirty="0"/>
              <a:t>Production roadmap</a:t>
            </a:r>
          </a:p>
        </p:txBody>
      </p:sp>
    </p:spTree>
    <p:extLst>
      <p:ext uri="{BB962C8B-B14F-4D97-AF65-F5344CB8AC3E}">
        <p14:creationId xmlns:p14="http://schemas.microsoft.com/office/powerpoint/2010/main" val="412863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0FDA5-DA2E-9B42-0AE0-1B9A668B4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227D32-FFB3-BAF1-5BA4-FDB19DDFF4C0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D59A39-A91A-9D6A-C706-A353A81066CB}"/>
              </a:ext>
            </a:extLst>
          </p:cNvPr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D5C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DAAA24-0062-96BD-3A0F-B49D33BC6FE8}"/>
              </a:ext>
            </a:extLst>
          </p:cNvPr>
          <p:cNvSpPr txBox="1"/>
          <p:nvPr/>
        </p:nvSpPr>
        <p:spPr>
          <a:xfrm>
            <a:off x="548640" y="182880"/>
            <a:ext cx="36984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Arial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Production roadmap</a:t>
            </a:r>
          </a:p>
        </p:txBody>
      </p:sp>
      <p:pic>
        <p:nvPicPr>
          <p:cNvPr id="12" name="Picture 11" descr="Vista previa: create an image with a production roadmap by stages, stage 0 is an MVP that includes the model, packaging the model to a model registry namely ml flow, serving the model with an api and docker, and data/performance colection, stage 1 would be to a adding kubernetes and jenkings to the stack , stage 3 would be automating training and adding experiment tracking, stage 4 would be to add a pipeline to feed the model data this includes creating a warehouse and a feature market place, stage 5 is automating everything, databricks should encircle everything but not be a stage since it can be implemented at any stage, finally make it nested and color coded, use chalck style and a blank backdrop">
            <a:extLst>
              <a:ext uri="{FF2B5EF4-FFF2-40B4-BE49-F238E27FC236}">
                <a16:creationId xmlns:a16="http://schemas.microsoft.com/office/drawing/2014/main" id="{7F2197A0-5604-2E36-2B82-511BD8B2F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44" y="1711940"/>
            <a:ext cx="6973491" cy="464899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B1ABB39-2B1F-8CF3-D388-88B28E67A65B}"/>
              </a:ext>
            </a:extLst>
          </p:cNvPr>
          <p:cNvGrpSpPr/>
          <p:nvPr/>
        </p:nvGrpSpPr>
        <p:grpSpPr>
          <a:xfrm>
            <a:off x="7138035" y="1760740"/>
            <a:ext cx="4505325" cy="4600194"/>
            <a:chOff x="8089448" y="195312"/>
            <a:chExt cx="4665361" cy="5831175"/>
          </a:xfrm>
        </p:grpSpPr>
        <p:sp>
          <p:nvSpPr>
            <p:cNvPr id="18" name="Rounded Rectangle 5">
              <a:extLst>
                <a:ext uri="{FF2B5EF4-FFF2-40B4-BE49-F238E27FC236}">
                  <a16:creationId xmlns:a16="http://schemas.microsoft.com/office/drawing/2014/main" id="{7B3FCFB0-9CE1-BBB7-EA43-7213E06DADB3}"/>
                </a:ext>
              </a:extLst>
            </p:cNvPr>
            <p:cNvSpPr/>
            <p:nvPr/>
          </p:nvSpPr>
          <p:spPr>
            <a:xfrm>
              <a:off x="8089448" y="195312"/>
              <a:ext cx="4665361" cy="5831175"/>
            </a:xfrm>
            <a:prstGeom prst="roundRect">
              <a:avLst/>
            </a:prstGeom>
            <a:solidFill>
              <a:srgbClr val="F5F6F8"/>
            </a:solidFill>
            <a:ln w="19050">
              <a:solidFill>
                <a:srgbClr val="D5CE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389B31D-E51C-E204-DE38-9096747E63EB}"/>
                </a:ext>
              </a:extLst>
            </p:cNvPr>
            <p:cNvSpPr txBox="1"/>
            <p:nvPr/>
          </p:nvSpPr>
          <p:spPr>
            <a:xfrm>
              <a:off x="8360988" y="1454889"/>
              <a:ext cx="3905882" cy="2580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3399"/>
                  </a:solidFill>
                </a:defRPr>
              </a:pPr>
              <a:r>
                <a:rPr lang="en-US" sz="3200" b="1" dirty="0">
                  <a:solidFill>
                    <a:srgbClr val="003399"/>
                  </a:solidFill>
                  <a:latin typeface="Calibri"/>
                </a:rPr>
                <a:t>Current state</a:t>
              </a:r>
            </a:p>
            <a:p>
              <a:pPr lvl="0">
                <a:spcBef>
                  <a:spcPts val="1200"/>
                </a:spcBef>
                <a:defRPr sz="1400">
                  <a:solidFill>
                    <a:srgbClr val="333333"/>
                  </a:solidFill>
                </a:defRPr>
              </a:pPr>
              <a:r>
                <a:rPr lang="en-US" sz="1600" dirty="0">
                  <a:solidFill>
                    <a:srgbClr val="333333"/>
                  </a:solidFill>
                </a:rPr>
                <a:t>•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Currently we would be at stage 1 (MVP) minus the monitoring, which is heavily dependent of the production deployment</a:t>
              </a:r>
            </a:p>
            <a:p>
              <a:pPr lvl="0">
                <a:spcBef>
                  <a:spcPts val="1200"/>
                </a:spcBef>
                <a:defRPr sz="1400">
                  <a:solidFill>
                    <a:srgbClr val="333333"/>
                  </a:solidFill>
                </a:defRPr>
              </a:pPr>
              <a:r>
                <a:rPr lang="en-US" dirty="0">
                  <a:solidFill>
                    <a:srgbClr val="333333"/>
                  </a:solidFill>
                </a:rPr>
                <a:t>• </a:t>
              </a:r>
              <a:r>
                <a:rPr lang="en-US" sz="1600" b="1" dirty="0">
                  <a:solidFill>
                    <a:srgbClr val="333333"/>
                  </a:solidFill>
                </a:rPr>
                <a:t>All stages are subject to business requirements of course, this is not a strict order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6434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751</Words>
  <Application>Microsoft Office PowerPoint</Application>
  <PresentationFormat>Widescreen</PresentationFormat>
  <Paragraphs>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Saúl Fernández</cp:lastModifiedBy>
  <cp:revision>4</cp:revision>
  <dcterms:created xsi:type="dcterms:W3CDTF">2013-01-27T09:14:16Z</dcterms:created>
  <dcterms:modified xsi:type="dcterms:W3CDTF">2026-10-20T17:01:56Z</dcterms:modified>
  <cp:category/>
</cp:coreProperties>
</file>